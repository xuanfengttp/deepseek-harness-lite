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111111"/>
                </a:solidFill>
                <a:latin typeface="Microsoft YaHei"/>
              </a:rPr>
              <a:t>KV Cache 复用设计 — dsh-lite 上下文编排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566928"/>
            <a:ext cx="1143000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621792"/>
            <a:ext cx="11430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2563EB"/>
                </a:solidFill>
                <a:latin typeface="Microsoft YaHei"/>
              </a:rPr>
              <a:t>① 前缀匹配  →  ② 首选 Append  →  ③ 压缩重排  →  ④ 固定插入代价对比  →  ⑤ Block 对齐缓解  →  ⑥ 命中率验证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60120"/>
            <a:ext cx="5577840" cy="1005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014984"/>
            <a:ext cx="5358384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563EB"/>
                </a:solidFill>
                <a:latin typeface="Microsoft YaHei"/>
              </a:rPr>
              <a:t>① 前缀匹配：追加只 miss 新增，插入打断后缀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271016"/>
            <a:ext cx="5358384" cy="256032"/>
          </a:xfrm>
          <a:prstGeom prst="roundRect">
            <a:avLst/>
          </a:prstGeom>
          <a:solidFill>
            <a:srgbClr val="F8F9FA"/>
          </a:solidFill>
          <a:ln w="9525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16736"/>
            <a:ext cx="5175504" cy="16459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spcAft>
                <a:spcPts val="0"/>
              </a:spcAft>
            </a:pPr>
            <a:r>
              <a:rPr sz="900">
                <a:solidFill>
                  <a:srgbClr val="111111"/>
                </a:solidFill>
                <a:latin typeface="Consolas"/>
              </a:rPr>
              <a:t>[A][B][C][D]  ← 命中（复用 KV）   [E] ← miss（重算）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1527048"/>
            <a:ext cx="53583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444444"/>
                </a:solidFill>
                <a:latin typeface="Microsoft YaHei"/>
              </a:rPr>
              <a:t>API 逐 token 比对前缀，一致则复用 KV，否则重算。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075688"/>
            <a:ext cx="5577840" cy="1965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2130552"/>
            <a:ext cx="5358384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563EB"/>
                </a:solidFill>
                <a:latin typeface="Microsoft YaHei"/>
              </a:rPr>
              <a:t>② 首选策略：所有动态内容追加尾部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386584"/>
            <a:ext cx="5358384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88888"/>
                </a:solidFill>
                <a:latin typeface="Microsoft YaHei"/>
              </a:rPr>
              <a:t>Memory / skill / todo 动态注入如何不打断缓存？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" y="2587752"/>
            <a:ext cx="5358384" cy="256032"/>
          </a:xfrm>
          <a:prstGeom prst="roundRect">
            <a:avLst/>
          </a:prstGeom>
          <a:solidFill>
            <a:srgbClr val="F8F9FA"/>
          </a:solidFill>
          <a:ln w="9525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633472"/>
            <a:ext cx="5175504" cy="16459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spcAft>
                <a:spcPts val="0"/>
              </a:spcAft>
            </a:pPr>
            <a:r>
              <a:rPr sz="900">
                <a:solidFill>
                  <a:srgbClr val="111111"/>
                </a:solidFill>
                <a:latin typeface="Consolas"/>
              </a:rPr>
              <a:t>[sys][tools][user1][asst1]  ← 前缀全命中   [memory] ← 只 miss 新增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475488" y="2889504"/>
          <a:ext cx="5120640" cy="850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377440"/>
                <a:gridCol w="731520"/>
              </a:tblGrid>
              <a:tr h="21259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563EB"/>
                          </a:solidFill>
                          <a:latin typeface="Microsoft YaHei"/>
                        </a:rPr>
                        <a:t>动态内容</a:t>
                      </a:r>
                    </a:p>
                  </a:txBody>
                  <a:tcPr marL="45720" marT="0" marB="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563EB"/>
                          </a:solidFill>
                          <a:latin typeface="Microsoft YaHei"/>
                        </a:rPr>
                        <a:t>注入方式</a:t>
                      </a:r>
                    </a:p>
                  </a:txBody>
                  <a:tcPr marL="45720" marT="0" marB="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563EB"/>
                          </a:solidFill>
                          <a:latin typeface="Microsoft YaHei"/>
                        </a:rPr>
                        <a:t>缓存</a:t>
                      </a:r>
                    </a:p>
                  </a:txBody>
                  <a:tcPr marL="45720" marT="0" marB="0">
                    <a:solidFill>
                      <a:srgbClr val="F0F4F8"/>
                    </a:solidFill>
                  </a:tcPr>
                </a:tc>
              </a:tr>
              <a:tr h="21259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11111"/>
                          </a:solidFill>
                          <a:latin typeface="Microsoft YaHei"/>
                        </a:rPr>
                        <a:t>Memory recall</a:t>
                      </a:r>
                    </a:p>
                  </a:txBody>
                  <a:tcPr marL="4572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11111"/>
                          </a:solidFill>
                          <a:latin typeface="Microsoft YaHei"/>
                        </a:rPr>
                        <a:t>tool result 追加</a:t>
                      </a:r>
                    </a:p>
                  </a:txBody>
                  <a:tcPr marL="4572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E7D32"/>
                          </a:solidFill>
                          <a:latin typeface="Microsoft YaHei"/>
                        </a:rPr>
                        <a:t>✅</a:t>
                      </a:r>
                    </a:p>
                  </a:txBody>
                  <a:tcPr marL="45720" marT="0" marB="0">
                    <a:solidFill>
                      <a:srgbClr val="FFFFFF"/>
                    </a:solidFill>
                  </a:tcPr>
                </a:tc>
              </a:tr>
              <a:tr h="21259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11111"/>
                          </a:solidFill>
                          <a:latin typeface="Microsoft YaHei"/>
                        </a:rPr>
                        <a:t>Todo guidance</a:t>
                      </a:r>
                    </a:p>
                  </a:txBody>
                  <a:tcPr marL="4572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11111"/>
                          </a:solidFill>
                          <a:latin typeface="Microsoft YaHei"/>
                        </a:rPr>
                        <a:t>user msg 追加</a:t>
                      </a:r>
                    </a:p>
                  </a:txBody>
                  <a:tcPr marL="4572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E7D32"/>
                          </a:solidFill>
                          <a:latin typeface="Microsoft YaHei"/>
                        </a:rPr>
                        <a:t>✅</a:t>
                      </a:r>
                    </a:p>
                  </a:txBody>
                  <a:tcPr marL="45720" marT="0" marB="0">
                    <a:solidFill>
                      <a:srgbClr val="FFFFFF"/>
                    </a:solidFill>
                  </a:tcPr>
                </a:tc>
              </a:tr>
              <a:tr h="21259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11111"/>
                          </a:solidFill>
                          <a:latin typeface="Microsoft YaHei"/>
                        </a:rPr>
                        <a:t>Workflow 指令</a:t>
                      </a:r>
                    </a:p>
                  </a:txBody>
                  <a:tcPr marL="4572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11111"/>
                          </a:solidFill>
                          <a:latin typeface="Microsoft YaHei"/>
                        </a:rPr>
                        <a:t>user msg 追加</a:t>
                      </a:r>
                    </a:p>
                  </a:txBody>
                  <a:tcPr marL="4572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E7D32"/>
                          </a:solidFill>
                          <a:latin typeface="Microsoft YaHei"/>
                        </a:rPr>
                        <a:t>✅</a:t>
                      </a:r>
                    </a:p>
                  </a:txBody>
                  <a:tcPr marL="4572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475488" y="3712464"/>
            <a:ext cx="5358384" cy="36576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749040"/>
            <a:ext cx="5212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1E40AF"/>
                </a:solidFill>
                <a:latin typeface="Microsoft YaHei"/>
              </a:rPr>
              <a:t>原则：一律追加尾部，不插入中间，不修改已有。压缩是唯一重排时机。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4151376"/>
            <a:ext cx="5577840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4206240"/>
            <a:ext cx="5358384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563EB"/>
                </a:solidFill>
                <a:latin typeface="Microsoft YaHei"/>
              </a:rPr>
              <a:t>③ 压缩：唯一重排窗口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4462272"/>
            <a:ext cx="5358384" cy="457200"/>
          </a:xfrm>
          <a:prstGeom prst="roundRect">
            <a:avLst/>
          </a:prstGeom>
          <a:solidFill>
            <a:srgbClr val="F8F9FA"/>
          </a:solidFill>
          <a:ln w="9525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4507992"/>
            <a:ext cx="5175504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spcAft>
                <a:spcPts val="0"/>
              </a:spcAft>
            </a:pPr>
            <a:r>
              <a:rPr sz="900">
                <a:solidFill>
                  <a:srgbClr val="111111"/>
                </a:solidFill>
                <a:latin typeface="Consolas"/>
              </a:rPr>
              <a:t>正常: [sys][tools][user1][asst1][user2]  miss 最后一轮</a:t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111111"/>
                </a:solidFill>
                <a:latin typeface="Consolas"/>
              </a:rPr>
              <a:t>压缩: [sys][tools][Summary][recent]  前缀命中 →恢复append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" y="4965192"/>
            <a:ext cx="535838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444444"/>
                </a:solidFill>
                <a:latin typeface="Microsoft YaHei"/>
              </a:rPr>
              <a:t>Summary 放头部，之后追加不破坏其缓存。不在压缩前重排：被移动消息马上要压缩掉，重排代价无回收窗口。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5312664"/>
            <a:ext cx="5577840" cy="1325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" y="5367528"/>
            <a:ext cx="5358384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563EB"/>
                </a:solidFill>
                <a:latin typeface="Microsoft YaHei"/>
              </a:rPr>
              <a:t>④ 实际命中率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475488" y="5623560"/>
          <a:ext cx="5120640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005840"/>
                <a:gridCol w="2926080"/>
              </a:tblGrid>
              <a:tr h="21031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563EB"/>
                          </a:solidFill>
                          <a:latin typeface="Microsoft YaHei"/>
                        </a:rPr>
                        <a:t>阶段</a:t>
                      </a:r>
                    </a:p>
                  </a:txBody>
                  <a:tcPr marL="45720" marT="0" marB="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563EB"/>
                          </a:solidFill>
                          <a:latin typeface="Microsoft YaHei"/>
                        </a:rPr>
                        <a:t>命中率</a:t>
                      </a:r>
                    </a:p>
                  </a:txBody>
                  <a:tcPr marL="45720" marT="0" marB="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563EB"/>
                          </a:solidFill>
                          <a:latin typeface="Microsoft YaHei"/>
                        </a:rPr>
                        <a:t>原因</a:t>
                      </a:r>
                    </a:p>
                  </a:txBody>
                  <a:tcPr marL="45720" marT="0" marB="0">
                    <a:solidFill>
                      <a:srgbClr val="F0F4F8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11111"/>
                          </a:solidFill>
                          <a:latin typeface="Microsoft YaHei"/>
                        </a:rPr>
                        <a:t>首轮</a:t>
                      </a:r>
                    </a:p>
                  </a:txBody>
                  <a:tcPr marL="4572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11111"/>
                          </a:solidFill>
                          <a:latin typeface="Microsoft YaHei"/>
                        </a:rPr>
                        <a:t>60-80%</a:t>
                      </a:r>
                    </a:p>
                  </a:txBody>
                  <a:tcPr marL="4572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11111"/>
                          </a:solidFill>
                          <a:latin typeface="Microsoft YaHei"/>
                        </a:rPr>
                        <a:t>system+tools 命中（预热），对话 miss</a:t>
                      </a:r>
                    </a:p>
                  </a:txBody>
                  <a:tcPr marL="45720" marT="0" marB="0"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11111"/>
                          </a:solidFill>
                          <a:latin typeface="Microsoft YaHei"/>
                        </a:rPr>
                        <a:t>第二轮起</a:t>
                      </a:r>
                    </a:p>
                  </a:txBody>
                  <a:tcPr marL="4572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E7D32"/>
                          </a:solidFill>
                          <a:latin typeface="Microsoft YaHei"/>
                        </a:rPr>
                        <a:t>85-99%</a:t>
                      </a:r>
                    </a:p>
                  </a:txBody>
                  <a:tcPr marL="4572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11111"/>
                          </a:solidFill>
                          <a:latin typeface="Microsoft YaHei"/>
                        </a:rPr>
                        <a:t>只 miss 最后一轮</a:t>
                      </a:r>
                    </a:p>
                  </a:txBody>
                  <a:tcPr marL="45720" marT="0" marB="0"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11111"/>
                          </a:solidFill>
                          <a:latin typeface="Microsoft YaHei"/>
                        </a:rPr>
                        <a:t>压缩后</a:t>
                      </a:r>
                    </a:p>
                  </a:txBody>
                  <a:tcPr marL="4572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11111"/>
                          </a:solidFill>
                          <a:latin typeface="Microsoft YaHei"/>
                        </a:rPr>
                        <a:t>70-85%</a:t>
                      </a:r>
                    </a:p>
                  </a:txBody>
                  <a:tcPr marL="4572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11111"/>
                          </a:solidFill>
                          <a:latin typeface="Microsoft YaHei"/>
                        </a:rPr>
                        <a:t>前缀仍命中，Summary miss</a:t>
                      </a:r>
                    </a:p>
                  </a:txBody>
                  <a:tcPr marL="45720" marT="0" marB="0"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11111"/>
                          </a:solidFill>
                          <a:latin typeface="Microsoft YaHei"/>
                        </a:rPr>
                        <a:t>skill 切换</a:t>
                      </a:r>
                    </a:p>
                  </a:txBody>
                  <a:tcPr marL="4572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11111"/>
                          </a:solidFill>
                          <a:latin typeface="Microsoft YaHei"/>
                        </a:rPr>
                        <a:t>50-70%</a:t>
                      </a:r>
                    </a:p>
                  </a:txBody>
                  <a:tcPr marL="4572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11111"/>
                          </a:solidFill>
                          <a:latin typeface="Microsoft YaHei"/>
                        </a:rPr>
                        <a:t>identity 命中，persona 后缀 miss</a:t>
                      </a:r>
                    </a:p>
                  </a:txBody>
                  <a:tcPr marL="4572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475488" y="6675120"/>
            <a:ext cx="5358384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888888"/>
                </a:solidFill>
                <a:latin typeface="Microsoft YaHei"/>
              </a:rPr>
              <a:t>数据来自 API 返回 prompt_cache_hit_tokens，非 agent 估算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89320" y="960120"/>
            <a:ext cx="5577840" cy="2834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99048" y="1014984"/>
            <a:ext cx="5358384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563EB"/>
                </a:solidFill>
                <a:latin typeface="Microsoft YaHei"/>
              </a:rPr>
              <a:t>⑤ 固定位置插入 vs Append：代价对比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9048" y="1271016"/>
            <a:ext cx="5358384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88888"/>
                </a:solidFill>
                <a:latin typeface="Microsoft YaHei"/>
              </a:rPr>
              <a:t>设备状态注入、会话恢复 context 必须插在固定位置，损失多大？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99048" y="1499616"/>
            <a:ext cx="2606040" cy="731520"/>
          </a:xfrm>
          <a:prstGeom prst="roundRect">
            <a:avLst/>
          </a:prstGeom>
          <a:solidFill>
            <a:srgbClr val="F6FFF6"/>
          </a:solidFill>
          <a:ln w="9525">
            <a:solidFill>
              <a:srgbClr val="C8E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72200" y="1536192"/>
            <a:ext cx="2459736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2E7D32"/>
                </a:solidFill>
                <a:latin typeface="Microsoft YaHei"/>
              </a:rPr>
              <a:t>Append 尾部追加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1719072"/>
            <a:ext cx="2459736" cy="228600"/>
          </a:xfrm>
          <a:prstGeom prst="roundRect">
            <a:avLst/>
          </a:prstGeom>
          <a:solidFill>
            <a:srgbClr val="F8F9FA"/>
          </a:solidFill>
          <a:ln w="9525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1764792"/>
            <a:ext cx="2276856" cy="1371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spcAft>
                <a:spcPts val="0"/>
              </a:spcAft>
            </a:pPr>
            <a:r>
              <a:rPr sz="900">
                <a:solidFill>
                  <a:srgbClr val="111111"/>
                </a:solidFill>
                <a:latin typeface="Consolas"/>
              </a:rPr>
              <a:t>[sys][tools][user1][asst1][memory]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2200" y="1975104"/>
            <a:ext cx="2459736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555555"/>
                </a:solidFill>
                <a:latin typeface="Microsoft YaHei"/>
              </a:rPr>
              <a:t>前缀全命中，只 miss 新增。命中率持续爬升。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42248" y="1499616"/>
            <a:ext cx="2606040" cy="731520"/>
          </a:xfrm>
          <a:prstGeom prst="roundRect">
            <a:avLst/>
          </a:prstGeom>
          <a:solidFill>
            <a:srgbClr val="FFF8F8"/>
          </a:solidFill>
          <a:ln w="9525">
            <a:solidFill>
              <a:srgbClr val="FFC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15400" y="1536192"/>
            <a:ext cx="2459736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C62828"/>
                </a:solidFill>
                <a:latin typeface="Microsoft YaHei"/>
              </a:rPr>
              <a:t>固定位置插入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15400" y="1719072"/>
            <a:ext cx="2459736" cy="228600"/>
          </a:xfrm>
          <a:prstGeom prst="roundRect">
            <a:avLst/>
          </a:prstGeom>
          <a:solidFill>
            <a:srgbClr val="F8F9FA"/>
          </a:solidFill>
          <a:ln w="9525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06840" y="1764792"/>
            <a:ext cx="2276856" cy="1371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spcAft>
                <a:spcPts val="0"/>
              </a:spcAft>
            </a:pPr>
            <a:r>
              <a:rPr sz="900">
                <a:solidFill>
                  <a:srgbClr val="111111"/>
                </a:solidFill>
                <a:latin typeface="Consolas"/>
              </a:rPr>
              <a:t>[sys][memory][user1][asst1]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15400" y="1975104"/>
            <a:ext cx="2459736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555555"/>
                </a:solidFill>
                <a:latin typeface="Microsoft YaHei"/>
              </a:rPr>
              <a:t>插入点后全部 miss。已有对话缓存全失效。</a:t>
            </a:r>
          </a:p>
        </p:txBody>
      </p: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6099048" y="2322576"/>
          <a:ext cx="5212080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371600"/>
                <a:gridCol w="2286000"/>
              </a:tblGrid>
              <a:tr h="21031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563EB"/>
                          </a:solidFill>
                          <a:latin typeface="Microsoft YaHei"/>
                        </a:rPr>
                        <a:t>场景</a:t>
                      </a:r>
                    </a:p>
                  </a:txBody>
                  <a:tcPr marL="45720" marT="0" marB="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563EB"/>
                          </a:solidFill>
                          <a:latin typeface="Microsoft YaHei"/>
                        </a:rPr>
                        <a:t>能否 append</a:t>
                      </a:r>
                    </a:p>
                  </a:txBody>
                  <a:tcPr marL="45720" marT="0" marB="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563EB"/>
                          </a:solidFill>
                          <a:latin typeface="Microsoft YaHei"/>
                        </a:rPr>
                        <a:t>说明</a:t>
                      </a:r>
                    </a:p>
                  </a:txBody>
                  <a:tcPr marL="45720" marT="0" marB="0">
                    <a:solidFill>
                      <a:srgbClr val="F0F4F8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11111"/>
                          </a:solidFill>
                          <a:latin typeface="Microsoft YaHei"/>
                        </a:rPr>
                        <a:t>Memory recall</a:t>
                      </a:r>
                    </a:p>
                  </a:txBody>
                  <a:tcPr marL="4572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E7D32"/>
                          </a:solidFill>
                          <a:latin typeface="Microsoft YaHei"/>
                        </a:rPr>
                        <a:t>✅ 可追加</a:t>
                      </a:r>
                    </a:p>
                  </a:txBody>
                  <a:tcPr marL="4572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11111"/>
                          </a:solidFill>
                          <a:latin typeface="Microsoft YaHei"/>
                        </a:rPr>
                        <a:t>工具调用结果天然在尾部</a:t>
                      </a:r>
                    </a:p>
                  </a:txBody>
                  <a:tcPr marL="45720" marT="0" marB="0"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11111"/>
                          </a:solidFill>
                          <a:latin typeface="Microsoft YaHei"/>
                        </a:rPr>
                        <a:t>Skill 切换</a:t>
                      </a:r>
                    </a:p>
                  </a:txBody>
                  <a:tcPr marL="4572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E65100"/>
                          </a:solidFill>
                          <a:latin typeface="Microsoft YaHei"/>
                        </a:rPr>
                        <a:t>⚠️ 改 system</a:t>
                      </a:r>
                    </a:p>
                  </a:txBody>
                  <a:tcPr marL="4572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11111"/>
                          </a:solidFill>
                          <a:latin typeface="Microsoft YaHei"/>
                        </a:rPr>
                        <a:t>persona 变化，后缀失效（低频）</a:t>
                      </a:r>
                    </a:p>
                  </a:txBody>
                  <a:tcPr marL="45720" marT="0" marB="0"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11111"/>
                          </a:solidFill>
                          <a:latin typeface="Microsoft YaHei"/>
                        </a:rPr>
                        <a:t>设备状态注入</a:t>
                      </a:r>
                    </a:p>
                  </a:txBody>
                  <a:tcPr marL="4572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C62828"/>
                          </a:solidFill>
                          <a:latin typeface="Microsoft YaHei"/>
                        </a:rPr>
                        <a:t>❌ 需固定位置</a:t>
                      </a:r>
                    </a:p>
                  </a:txBody>
                  <a:tcPr marL="4572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11111"/>
                          </a:solidFill>
                          <a:latin typeface="Microsoft YaHei"/>
                        </a:rPr>
                        <a:t>必须在 system 后、消息前</a:t>
                      </a:r>
                    </a:p>
                  </a:txBody>
                  <a:tcPr marL="45720" marT="0" marB="0"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11111"/>
                          </a:solidFill>
                          <a:latin typeface="Microsoft YaHei"/>
                        </a:rPr>
                        <a:t>会话恢复 context</a:t>
                      </a:r>
                    </a:p>
                  </a:txBody>
                  <a:tcPr marL="4572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C62828"/>
                          </a:solidFill>
                          <a:latin typeface="Microsoft YaHei"/>
                        </a:rPr>
                        <a:t>❌ 需固定位置</a:t>
                      </a:r>
                    </a:p>
                  </a:txBody>
                  <a:tcPr marL="4572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11111"/>
                          </a:solidFill>
                          <a:latin typeface="Microsoft YaHei"/>
                        </a:rPr>
                        <a:t>历史 context 需在对话前</a:t>
                      </a:r>
                    </a:p>
                  </a:txBody>
                  <a:tcPr marL="4572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1" name="Rounded Rectangle 40"/>
          <p:cNvSpPr/>
          <p:nvPr/>
        </p:nvSpPr>
        <p:spPr>
          <a:xfrm>
            <a:off x="5989320" y="3904488"/>
            <a:ext cx="5577840" cy="2743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99048" y="3959352"/>
            <a:ext cx="5358384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563EB"/>
                </a:solidFill>
                <a:latin typeface="Microsoft YaHei"/>
              </a:rPr>
              <a:t>⑥ Block 对齐：缓解固定插入的损失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99048" y="4215384"/>
            <a:ext cx="5358384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888888"/>
                </a:solidFill>
                <a:latin typeface="Microsoft YaHei"/>
              </a:rPr>
              <a:t>Block 是 prefix matching 最小粒度，对齐 section 边界能否减少连带 miss？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099048" y="4416552"/>
            <a:ext cx="5358384" cy="1188720"/>
          </a:xfrm>
          <a:prstGeom prst="roundRect">
            <a:avLst/>
          </a:prstGeom>
          <a:solidFill>
            <a:srgbClr val="F8F9FA"/>
          </a:solidFill>
          <a:ln w="9525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90488" y="4462272"/>
            <a:ext cx="5175504" cy="10972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spcAft>
                <a:spcPts val="0"/>
              </a:spcAft>
            </a:pPr>
            <a:r>
              <a:rPr sz="900">
                <a:solidFill>
                  <a:srgbClr val="111111"/>
                </a:solidFill>
                <a:latin typeface="Consolas"/>
              </a:rPr>
              <a:t>未对齐: blk0  blk1  blk2  blk3</a:t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111111"/>
                </a:solidFill>
                <a:latin typeface="Consolas"/>
              </a:rPr>
              <a:t>        [identity+rules|tools|persona|custom]</a:t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C62828"/>
                </a:solidFill>
                <a:latin typeface="Consolas"/>
              </a:rPr>
              <a:t>                      ↑ section 跨 block 边界</a:t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111111"/>
                </a:solidFill>
                <a:latin typeface="Consolas"/>
              </a:rPr>
              <a:t/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111111"/>
                </a:solidFill>
                <a:latin typeface="Consolas"/>
              </a:rPr>
              <a:t>对齐后: blk0  blk1  blk2  blk3  blk4</a:t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111111"/>
                </a:solidFill>
                <a:latin typeface="Consolas"/>
              </a:rPr>
              <a:t>        [identity+rules][tools][persona][custom]</a:t>
            </a:r>
          </a:p>
          <a:p>
            <a:pPr>
              <a:spcAft>
                <a:spcPts val="0"/>
              </a:spcAft>
            </a:pPr>
            <a:r>
              <a:rPr sz="900">
                <a:solidFill>
                  <a:srgbClr val="2E7D32"/>
                </a:solidFill>
                <a:latin typeface="Consolas"/>
              </a:rPr>
              <a:t>                       ↑ 边界 = block 边界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99048" y="5632704"/>
            <a:ext cx="53583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444444"/>
                </a:solidFill>
                <a:latin typeface="Microsoft YaHei"/>
              </a:rPr>
              <a:t>对齐后：persona 变化只 miss blk3+blk4，blk0~blk2 独立复用。未对齐：persona 跨 blk2 尾部，连带 miss。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99048" y="5907024"/>
            <a:ext cx="5358384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444444"/>
                </a:solidFill>
                <a:latin typeface="Microsoft YaHei"/>
              </a:rPr>
              <a:t>▪ 自部署 → 同款分词器 + block_size 已知 → 技术可行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444444"/>
                </a:solidFill>
                <a:latin typeface="Microsoft YaHei"/>
              </a:rPr>
              <a:t>▪ 边界浪费 ≤ 15 token，占 system prompt ~5%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444444"/>
                </a:solidFill>
                <a:latin typeface="Microsoft YaHei"/>
              </a:rPr>
              <a:t>▪ append-only 运行中无浪费，仅 section 变化时触发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099048" y="6409944"/>
            <a:ext cx="5358384" cy="36576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72200" y="6446520"/>
            <a:ext cx="5212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1E40AF"/>
                </a:solidFill>
                <a:latin typeface="Microsoft YaHei"/>
              </a:rPr>
              <a:t>储备方案：三层设计已达 85-99%，5% 边际收益暂不够。被迫固定插入增多或命中率瓶颈时再启用。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0" y="65379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AAAAAA"/>
                </a:solidFill>
                <a:latin typeface="Microsoft YaHei"/>
              </a:rPr>
              <a:t>dsh-lite · docs/kv-cache-design.md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